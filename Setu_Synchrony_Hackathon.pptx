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9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92A"/>
                </a:solidFill>
                <a:latin typeface="Arial"/>
              </a:rPr>
              <a:t>Weight shifts as the applicant's own history accumulates (days_active)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 weight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0.833</c:v>
                </c:pt>
                <c:pt idx="2">
                  <c:v>0.667</c:v>
                </c:pt>
                <c:pt idx="3">
                  <c:v>0.5</c:v>
                </c:pt>
                <c:pt idx="4">
                  <c:v>0.333</c:v>
                </c:pt>
                <c:pt idx="5">
                  <c:v>0.167</c:v>
                </c:pt>
                <c:pt idx="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Personal-model weight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0.167</c:v>
                </c:pt>
                <c:pt idx="2">
                  <c:v>0.333</c:v>
                </c:pt>
                <c:pt idx="3">
                  <c:v>0.5</c:v>
                </c:pt>
                <c:pt idx="4">
                  <c:v>0.667</c:v>
                </c:pt>
                <c:pt idx="5">
                  <c:v>0.833</c:v>
                </c:pt>
                <c:pt idx="6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Days active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4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HACKATHON  ·  SOLUTION DEVELOPMENT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Trust Scoring for Financial Inclusion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Inclusion: Dynamic Risk Assessment for Underserved Segments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69680" y="3096616"/>
            <a:ext cx="2615184" cy="183063"/>
          </a:xfrm>
          <a:prstGeom prst="roundRect">
            <a:avLst>
              <a:gd name="adj" fmla="val 14985"/>
            </a:avLst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9078895" y="2377440"/>
            <a:ext cx="261518" cy="915314"/>
          </a:xfrm>
          <a:prstGeom prst="roundRect">
            <a:avLst>
              <a:gd name="adj" fmla="val 6993"/>
            </a:avLst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11014131" y="2377440"/>
            <a:ext cx="261518" cy="915314"/>
          </a:xfrm>
          <a:prstGeom prst="roundRect">
            <a:avLst>
              <a:gd name="adj" fmla="val 6993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Shlok Jaiswal  ·  2022B1A41097P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Credit Invisibility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FF6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26M+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are “credit invisible” — no credit history at all (CFPB)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FF6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965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 of millions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788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remain outside formal credit systems across emerging markets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credit scoring needs a formal history they don't have. Alternative data — mobile usage, transactions, behavior — can fill the gap.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alternative data is also the riskiest data to use — which is the actual problem to solve.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the model.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judgment about the data.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“Social signals” is the single highest disparate-impact, least-auditable data category in alternative-data lending. Naming it and refusing it is a deliberate design choice — not an oversight.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Insight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Setu: Progressive Trust Scoring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real-time, explainable risk score from day one — a cohort-based estimate that automatically sharpens into a personal score as trust is earned.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FF6F5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35661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202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sharpens per customer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history accumulates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32918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F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5623560" y="35661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reason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32918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EF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35661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by Design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Social/demographic data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model input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Our Approach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Cohort → Personal, Blended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match via similarity search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43400" y="1965960"/>
            <a:ext cx="822960" cy="36576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16459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3212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gradient-boosting model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6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(1 − w) × cohort_score + w × direct_score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min(1, days_active / 90)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3657600"/>
          <a:ext cx="11064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Core Mechanic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Use — And What We Refuse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1264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REFUSE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recharge frequency &amp; regularity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/ rent payment punctuality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transaction (UPI/wallet) behavior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tenure &amp; KYC completeness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365760" cy="365760"/>
          </a:xfrm>
          <a:prstGeom prst="ellipse">
            <a:avLst/>
          </a:prstGeom>
          <a:solidFill>
            <a:srgbClr val="1629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/ social-graph data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365760" cy="365760"/>
          </a:xfrm>
          <a:prstGeom prst="ellipse">
            <a:avLst/>
          </a:prstGeom>
          <a:solidFill>
            <a:srgbClr val="1629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Caste, religion, community indicators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383280"/>
            <a:ext cx="365760" cy="365760"/>
          </a:xfrm>
          <a:prstGeom prst="ellipse">
            <a:avLst/>
          </a:prstGeom>
          <a:solidFill>
            <a:srgbClr val="1629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264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location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disparate-impact, least auditable)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Strategy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— Measured, Not Assumed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the trained model's own predictions across the full population — checking outputs, not just labels.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disparity ratio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4754880" cy="320040"/>
          </a:xfrm>
          <a:prstGeom prst="roundRect">
            <a:avLst>
              <a:gd name="adj" fmla="val 14286"/>
            </a:avLst>
          </a:prstGeom>
          <a:solidFill>
            <a:srgbClr val="0E444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4114800"/>
            <a:ext cx="4469587" cy="32004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4535424" y="4023360"/>
            <a:ext cx="0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1264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disparity ratio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4114800"/>
            <a:ext cx="4754880" cy="320040"/>
          </a:xfrm>
          <a:prstGeom prst="roundRect">
            <a:avLst>
              <a:gd name="adj" fmla="val 14286"/>
            </a:avLst>
          </a:prstGeom>
          <a:solidFill>
            <a:srgbClr val="0E444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4114800"/>
            <a:ext cx="4612234" cy="32004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3264" y="4023360"/>
            <a:ext cx="0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four-fifths rule threshold (0.80). Both dimensions clear it.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Fairness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Score Comes With a Reason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 explanation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031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“Compared to N similar new applicants, X% repaid on time.” — inherently intuitive, no model internals needed.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explanation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5204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feature attribution (permutation-based) finds the top contributing factors → one guarded LLM call turns them into a plain-English sentence.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F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46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may only rephrase the factors it's given. No new claims. No demographic references — none are ever passed to it in the first place.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Explainability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as Code, Not Just Policy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gate — enforced server-side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031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/api/consent must succeed before /api/score will run for that applicant — a real 403 otherwise, not a client-side checkbox that can be bypassed.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 erasure — a real endpoint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5204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/api/applicants/{id} wired to an “Erase my data” button in the UI — not a policy statement with nothing behind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FF6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directly to India's DPDP Act 2023: purpose limitation, consent before use, and the right to erasure.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Privacy &amp; Compliance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08660" y="23774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582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4582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31820" y="2880360"/>
            <a:ext cx="320040" cy="274320"/>
          </a:xfrm>
          <a:prstGeom prst="rightArrow">
            <a:avLst/>
          </a:prstGeom>
          <a:solidFill>
            <a:srgbClr val="5B7473"/>
          </a:solidFill>
          <a:ln/>
        </p:spPr>
      </p:sp>
      <p:sp>
        <p:nvSpPr>
          <p:cNvPr id="7" name="Shape 5"/>
          <p:cNvSpPr/>
          <p:nvPr/>
        </p:nvSpPr>
        <p:spPr>
          <a:xfrm>
            <a:off x="3497580" y="23774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474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3474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orchestration · consent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20740" y="2880360"/>
            <a:ext cx="320040" cy="274320"/>
          </a:xfrm>
          <a:prstGeom prst="rightArrow">
            <a:avLst/>
          </a:prstGeom>
          <a:solidFill>
            <a:srgbClr val="5B7473"/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0" y="23774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366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Model-service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owns the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09660" y="2880360"/>
            <a:ext cx="320040" cy="274320"/>
          </a:xfrm>
          <a:prstGeom prst="rightArrow">
            <a:avLst/>
          </a:prstGeom>
          <a:solidFill>
            <a:srgbClr val="5B747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75420" y="23774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1258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+ pgvector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1258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· cohort search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calling a Python model-service is a deliberate microservice split — Java owns the API/auth/orchestration layer, Python owns the ML — not a shortcut around using either for real.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Architecture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Running vs. What's Designed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1264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NOT YET WIRED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773936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+ blended + direct scoring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194560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pgvector cohort search + PCA embeddings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615184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generation (template + real Groq LLM)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3035808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enforcement (server-side)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3456432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of the trained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" y="3877056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 per applicant (real Postgres)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" y="4297680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Right-to-erasure endpoint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731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773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" y="4718304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AWS (Docker Compose, 4 containers)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1874520"/>
            <a:ext cx="329184" cy="329184"/>
          </a:xfrm>
          <a:prstGeom prst="ellipse">
            <a:avLst/>
          </a:prstGeom>
          <a:solidFill>
            <a:srgbClr val="D8E4E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1819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queue for borderline scores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26480" y="2441448"/>
            <a:ext cx="329184" cy="329184"/>
          </a:xfrm>
          <a:prstGeom prst="ellipse">
            <a:avLst/>
          </a:prstGeom>
          <a:solidFill>
            <a:srgbClr val="D8E4E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0" y="23865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SHAP explainability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126480" y="3008376"/>
            <a:ext cx="329184" cy="329184"/>
          </a:xfrm>
          <a:prstGeom prst="ellipse">
            <a:avLst/>
          </a:prstGeom>
          <a:solidFill>
            <a:srgbClr val="D8E4E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0" y="2953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secrets-manager-based access control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126480" y="3575304"/>
            <a:ext cx="329184" cy="329184"/>
          </a:xfrm>
          <a:prstGeom prst="ellipse">
            <a:avLst/>
          </a:prstGeom>
          <a:solidFill>
            <a:srgbClr val="D8E4E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0" y="3520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monitoring &amp; logging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FF6F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scope cut under a hackathon deadline — not an oversight.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Build Status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3716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321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Live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demo included separately, walking through: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score →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sharpens with history →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report →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Demo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71907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queue for borderline scores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60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SHAP explainability in place of the permutation approximation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015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secrets-manager-based access control (currently environment-variable hygiene)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428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monitoring and logging (currently default framework logs)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51023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0840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applicant experience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Roadmap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· Synchrony Hackathon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2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2660904"/>
            <a:ext cx="4023360" cy="281635"/>
          </a:xfrm>
          <a:prstGeom prst="roundRect">
            <a:avLst>
              <a:gd name="adj" fmla="val 9740"/>
            </a:avLst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5396789" y="1554480"/>
            <a:ext cx="402336" cy="1408176"/>
          </a:xfrm>
          <a:prstGeom prst="roundRect">
            <a:avLst>
              <a:gd name="adj" fmla="val 4545"/>
            </a:avLst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374075" y="1554480"/>
            <a:ext cx="402336" cy="1408176"/>
          </a:xfrm>
          <a:prstGeom prst="roundRect">
            <a:avLst>
              <a:gd name="adj" fmla="val 4545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— bridging the credit gap, one earned score at a time.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github.com/Shlok-J/setu-synchrony-hackathon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Shlok Jaiswal  ·  2022B1A41097P  ·  BITS Pilani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2026-09-23T15:01:03Z</dcterms:created>
  <dcterms:modified xsi:type="dcterms:W3CDTF">2026-09-23T15:01:03Z</dcterms:modified>
</cp:coreProperties>
</file>