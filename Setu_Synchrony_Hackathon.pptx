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92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292A"/>
                </a:solidFill>
                <a:latin typeface="Arial"/>
              </a:rPr>
              <a:t>Weight shifts as the applicant's own history accumulates (days_active)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Cohort weight</c:v>
                </c:pt>
              </c:strCache>
            </c:strRef>
          </c:tx>
          <c:spPr>
            <a:solidFill>
              <a:srgbClr val="00A896"/>
            </a:solidFill>
            <a:ln w="38100" cap="flat">
              <a:solidFill>
                <a:srgbClr val="00A89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A896"/>
              </a:solidFill>
              <a:ln w="9525" cap="flat">
                <a:solidFill>
                  <a:srgbClr val="00A89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0</c:v>
                  </c:pt>
                  <c:pt idx="1">
                    <c:v>15</c:v>
                  </c:pt>
                  <c:pt idx="2">
                    <c:v>30</c:v>
                  </c:pt>
                  <c:pt idx="3">
                    <c:v>45</c:v>
                  </c:pt>
                  <c:pt idx="4">
                    <c:v>60</c:v>
                  </c:pt>
                  <c:pt idx="5">
                    <c:v>75</c:v>
                  </c:pt>
                  <c:pt idx="6">
                    <c:v>90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</c:v>
                </c:pt>
                <c:pt idx="1">
                  <c:v>0.833</c:v>
                </c:pt>
                <c:pt idx="2">
                  <c:v>0.667</c:v>
                </c:pt>
                <c:pt idx="3">
                  <c:v>0.5</c:v>
                </c:pt>
                <c:pt idx="4">
                  <c:v>0.333</c:v>
                </c:pt>
                <c:pt idx="5">
                  <c:v>0.167</c:v>
                </c:pt>
                <c:pt idx="6">
                  <c:v>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Personal-model weight</c:v>
                </c:pt>
              </c:strCache>
            </c:strRef>
          </c:tx>
          <c:spPr>
            <a:solidFill>
              <a:srgbClr val="02C39A"/>
            </a:solidFill>
            <a:ln w="38100" cap="flat">
              <a:solidFill>
                <a:srgbClr val="02C39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2C39A"/>
              </a:solidFill>
              <a:ln w="9525" cap="flat">
                <a:solidFill>
                  <a:srgbClr val="02C39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0</c:v>
                  </c:pt>
                  <c:pt idx="1">
                    <c:v>15</c:v>
                  </c:pt>
                  <c:pt idx="2">
                    <c:v>30</c:v>
                  </c:pt>
                  <c:pt idx="3">
                    <c:v>45</c:v>
                  </c:pt>
                  <c:pt idx="4">
                    <c:v>60</c:v>
                  </c:pt>
                  <c:pt idx="5">
                    <c:v>75</c:v>
                  </c:pt>
                  <c:pt idx="6">
                    <c:v>90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0.167</c:v>
                </c:pt>
                <c:pt idx="2">
                  <c:v>0.333</c:v>
                </c:pt>
                <c:pt idx="3">
                  <c:v>0.5</c:v>
                </c:pt>
                <c:pt idx="4">
                  <c:v>0.667</c:v>
                </c:pt>
                <c:pt idx="5">
                  <c:v>0.833</c:v>
                </c:pt>
                <c:pt idx="6">
                  <c:v>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Days active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747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12700" cap="flat">
              <a:solidFill>
                <a:srgbClr val="E5ED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7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2C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SYNCHRONY HACKATHON  ·  SOLUTION DEVELOPMENT CHALLENGE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74520"/>
            <a:ext cx="8229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</a:t>
            </a:r>
            <a:endParaRPr lang="en-US" sz="8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3832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Progressive Trust Scoring for Financial Inclusion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97764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FB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Financial Inclusion: Dynamic Risk Assessment for Underserved Segments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869680" y="3096616"/>
            <a:ext cx="2615184" cy="183063"/>
          </a:xfrm>
          <a:prstGeom prst="roundRect">
            <a:avLst>
              <a:gd name="adj" fmla="val 14985"/>
            </a:avLst>
          </a:prstGeom>
          <a:solidFill>
            <a:srgbClr val="02C39A"/>
          </a:solidFill>
          <a:ln/>
        </p:spPr>
      </p:sp>
      <p:sp>
        <p:nvSpPr>
          <p:cNvPr id="7" name="Shape 5"/>
          <p:cNvSpPr/>
          <p:nvPr/>
        </p:nvSpPr>
        <p:spPr>
          <a:xfrm>
            <a:off x="9078895" y="2377440"/>
            <a:ext cx="261518" cy="915314"/>
          </a:xfrm>
          <a:prstGeom prst="roundRect">
            <a:avLst>
              <a:gd name="adj" fmla="val 6993"/>
            </a:avLst>
          </a:prstGeom>
          <a:solidFill>
            <a:srgbClr val="02C39A"/>
          </a:solidFill>
          <a:ln/>
        </p:spPr>
      </p:sp>
      <p:sp>
        <p:nvSpPr>
          <p:cNvPr id="8" name="Shape 6"/>
          <p:cNvSpPr/>
          <p:nvPr/>
        </p:nvSpPr>
        <p:spPr>
          <a:xfrm>
            <a:off x="11014131" y="2377440"/>
            <a:ext cx="261518" cy="915314"/>
          </a:xfrm>
          <a:prstGeom prst="roundRect">
            <a:avLst>
              <a:gd name="adj" fmla="val 6993"/>
            </a:avLst>
          </a:prstGeom>
          <a:solidFill>
            <a:srgbClr val="02C39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6035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Shlok Jaiswal  ·  [Roll Number]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Problem: Credit Invisibility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5120640" cy="1737360"/>
          </a:xfrm>
          <a:prstGeom prst="roundRect">
            <a:avLst>
              <a:gd name="adj" fmla="val 4211"/>
            </a:avLst>
          </a:prstGeom>
          <a:solidFill>
            <a:srgbClr val="EFF6F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68680" y="196596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26M+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788920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Americans are “credit invisible” — no credit history at all (CFPB)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126480" y="1737360"/>
            <a:ext cx="5120640" cy="1737360"/>
          </a:xfrm>
          <a:prstGeom prst="roundRect">
            <a:avLst>
              <a:gd name="adj" fmla="val 4211"/>
            </a:avLst>
          </a:prstGeom>
          <a:solidFill>
            <a:srgbClr val="EFF6F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46520" y="196596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Hundreds of millions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6446520" y="2788920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remain outside formal credit systems across emerging markets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776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62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Why? 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62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credit scoring needs a formal history they don't have. Alternative data — mobile usage, transactions, behavior — can fill the gap.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754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alternative data is also the riskiest data to use — which is the actual problem to solve.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The Challenge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8412480" y="65105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 · Synchrony Hackathon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62C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TEST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2880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isn't the model.</a:t>
            </a:r>
            <a:endParaRPr lang="en-US" sz="4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It's the judgment about the data.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206240"/>
            <a:ext cx="9601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“Social signals” is the single highest disparate-impact, least-auditable data category in alternative-data lending. Naming it and refusing it is a deliberate design choice — not an oversight.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The Insight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412480" y="65105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 · Synchrony Hackathon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Setu: Progressive Trust Scoring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3736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16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real-time, explainable risk score from day one — a cohort-based estimate that automatically sharpens into a personal score as trust is earned.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3291840"/>
            <a:ext cx="3383280" cy="2377440"/>
          </a:xfrm>
          <a:prstGeom prst="roundRect">
            <a:avLst>
              <a:gd name="adj" fmla="val 3077"/>
            </a:avLst>
          </a:prstGeom>
          <a:solidFill>
            <a:srgbClr val="EFF6F5"/>
          </a:solidFill>
          <a:ln/>
        </p:spPr>
      </p:sp>
      <p:sp>
        <p:nvSpPr>
          <p:cNvPr id="5" name="Shape 3"/>
          <p:cNvSpPr/>
          <p:nvPr/>
        </p:nvSpPr>
        <p:spPr>
          <a:xfrm>
            <a:off x="1920240" y="3566160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920240" y="3566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3434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Adaptive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484632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sharpens per customer</a:t>
            </a:r>
            <a:endParaRPr lang="en-US" sz="13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history accumulates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51960" y="3291840"/>
            <a:ext cx="3383280" cy="2377440"/>
          </a:xfrm>
          <a:prstGeom prst="roundRect">
            <a:avLst>
              <a:gd name="adj" fmla="val 3077"/>
            </a:avLst>
          </a:prstGeom>
          <a:solidFill>
            <a:srgbClr val="EFF6F5"/>
          </a:solidFill>
          <a:ln/>
        </p:spPr>
      </p:sp>
      <p:sp>
        <p:nvSpPr>
          <p:cNvPr id="10" name="Shape 8"/>
          <p:cNvSpPr/>
          <p:nvPr/>
        </p:nvSpPr>
        <p:spPr>
          <a:xfrm>
            <a:off x="5623560" y="3566160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23560" y="3566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4251960" y="43434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Explainable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480560" y="484632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score ships with a</a:t>
            </a:r>
            <a:endParaRPr lang="en-US" sz="13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plain-English reason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955280" y="3291840"/>
            <a:ext cx="3383280" cy="2377440"/>
          </a:xfrm>
          <a:prstGeom prst="roundRect">
            <a:avLst>
              <a:gd name="adj" fmla="val 3077"/>
            </a:avLst>
          </a:prstGeom>
          <a:solidFill>
            <a:srgbClr val="EFF6F5"/>
          </a:solidFill>
          <a:ln/>
        </p:spPr>
      </p:sp>
      <p:sp>
        <p:nvSpPr>
          <p:cNvPr id="15" name="Shape 13"/>
          <p:cNvSpPr/>
          <p:nvPr/>
        </p:nvSpPr>
        <p:spPr>
          <a:xfrm>
            <a:off x="9326880" y="3566160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326880" y="3566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0" y="43434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Fair by Design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183880" y="484632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Social/demographic data</a:t>
            </a:r>
            <a:endParaRPr lang="en-US" sz="13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a model input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Our Approach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8412480" y="65105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 · Synchrony Hackathon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Works: Cohort → Personal, Blended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3657600" cy="1005840"/>
          </a:xfrm>
          <a:prstGeom prst="roundRect">
            <a:avLst>
              <a:gd name="adj" fmla="val 7273"/>
            </a:avLst>
          </a:prstGeom>
          <a:solidFill>
            <a:srgbClr val="02809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Start</a:t>
            </a:r>
            <a:endParaRPr lang="en-US" sz="15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 match via similarity search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343400" y="1965960"/>
            <a:ext cx="822960" cy="365760"/>
          </a:xfrm>
          <a:prstGeom prst="rightArrow">
            <a:avLst/>
          </a:prstGeom>
          <a:solidFill>
            <a:srgbClr val="00A896"/>
          </a:solidFill>
          <a:ln/>
        </p:spPr>
      </p:sp>
      <p:sp>
        <p:nvSpPr>
          <p:cNvPr id="6" name="Shape 4"/>
          <p:cNvSpPr/>
          <p:nvPr/>
        </p:nvSpPr>
        <p:spPr>
          <a:xfrm>
            <a:off x="5303520" y="1645920"/>
            <a:ext cx="3657600" cy="1005840"/>
          </a:xfrm>
          <a:prstGeom prst="roundRect">
            <a:avLst>
              <a:gd name="adj" fmla="val 7273"/>
            </a:avLst>
          </a:prstGeom>
          <a:solidFill>
            <a:srgbClr val="02C39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532120" y="164592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</a:t>
            </a:r>
            <a:endParaRPr lang="en-US" sz="15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gradient-boosting model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8803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629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 = (1 − w) × cohort_score + w × direct_score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B74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 = min(1, days_active / 90)</a:t>
            </a:r>
            <a:endParaRPr lang="en-US" sz="16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48640" y="3657600"/>
          <a:ext cx="1106424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The Core Mechanic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8412480" y="65105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 · Synchrony Hackathon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Use — And What We Refuse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USE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126480" y="14173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162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REFUSE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365760" cy="36576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1828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17830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Telecom recharge frequency &amp; regularity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606040"/>
            <a:ext cx="365760" cy="36576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606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256032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Utility / rent payment punctuality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383280"/>
            <a:ext cx="365760" cy="36576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3383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051560" y="333756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transaction (UPI/wallet) behavior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160520"/>
            <a:ext cx="365760" cy="36576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4160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051560" y="41148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tenure &amp; KYC completeness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126480" y="1828800"/>
            <a:ext cx="365760" cy="365760"/>
          </a:xfrm>
          <a:prstGeom prst="ellipse">
            <a:avLst/>
          </a:prstGeom>
          <a:solidFill>
            <a:srgbClr val="16292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126480" y="1828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6629400" y="17830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media / social-graph data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126480" y="2606040"/>
            <a:ext cx="365760" cy="365760"/>
          </a:xfrm>
          <a:prstGeom prst="ellipse">
            <a:avLst/>
          </a:prstGeom>
          <a:solidFill>
            <a:srgbClr val="16292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126480" y="2606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6629400" y="256032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Caste, religion, community indicators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126480" y="3383280"/>
            <a:ext cx="365760" cy="365760"/>
          </a:xfrm>
          <a:prstGeom prst="ellipse">
            <a:avLst/>
          </a:prstGeom>
          <a:solidFill>
            <a:srgbClr val="16292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126480" y="3383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6629400" y="333756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Granular location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629400" y="41148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(highest disparate-impact, least auditable)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Data Strategy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8412480" y="65105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 · Synchrony Hackathon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62C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Fairness — Measured, Not Assumed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Computed from the trained model's own predictions across the full population — checking outputs, not just labels.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28600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0.94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Gender disparity ratio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4114800"/>
            <a:ext cx="4754880" cy="320040"/>
          </a:xfrm>
          <a:prstGeom prst="roundRect">
            <a:avLst>
              <a:gd name="adj" fmla="val 14286"/>
            </a:avLst>
          </a:prstGeom>
          <a:solidFill>
            <a:srgbClr val="0E4448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0" y="4114800"/>
            <a:ext cx="4469587" cy="320040"/>
          </a:xfrm>
          <a:prstGeom prst="roundRect">
            <a:avLst>
              <a:gd name="adj" fmla="val 14286"/>
            </a:avLst>
          </a:prstGeom>
          <a:solidFill>
            <a:srgbClr val="02C39A"/>
          </a:solidFill>
          <a:ln/>
        </p:spPr>
      </p:sp>
      <p:sp>
        <p:nvSpPr>
          <p:cNvPr id="8" name="Shape 6"/>
          <p:cNvSpPr/>
          <p:nvPr/>
        </p:nvSpPr>
        <p:spPr>
          <a:xfrm>
            <a:off x="4535424" y="4023360"/>
            <a:ext cx="0" cy="502920"/>
          </a:xfrm>
          <a:prstGeom prst="line">
            <a:avLst/>
          </a:prstGeom>
          <a:noFill/>
          <a:ln w="25400">
            <a:solidFill>
              <a:srgbClr val="FFFFFF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6126480" y="228600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0.97</a:t>
            </a:r>
            <a:endParaRPr lang="en-US" sz="7200" dirty="0"/>
          </a:p>
        </p:txBody>
      </p:sp>
      <p:sp>
        <p:nvSpPr>
          <p:cNvPr id="10" name="Text 8"/>
          <p:cNvSpPr txBox="1"/>
          <p:nvPr/>
        </p:nvSpPr>
        <p:spPr>
          <a:xfrm>
            <a:off x="6126480" y="35204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disparity ratio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309360" y="4114800"/>
            <a:ext cx="4754880" cy="320040"/>
          </a:xfrm>
          <a:prstGeom prst="roundRect">
            <a:avLst>
              <a:gd name="adj" fmla="val 14286"/>
            </a:avLst>
          </a:prstGeom>
          <a:solidFill>
            <a:srgbClr val="0E4448"/>
          </a:solidFill>
          <a:ln/>
        </p:spPr>
      </p:sp>
      <p:sp>
        <p:nvSpPr>
          <p:cNvPr id="12" name="Shape 10"/>
          <p:cNvSpPr/>
          <p:nvPr/>
        </p:nvSpPr>
        <p:spPr>
          <a:xfrm>
            <a:off x="6309360" y="4114800"/>
            <a:ext cx="4612234" cy="320040"/>
          </a:xfrm>
          <a:prstGeom prst="roundRect">
            <a:avLst>
              <a:gd name="adj" fmla="val 14286"/>
            </a:avLst>
          </a:prstGeom>
          <a:solidFill>
            <a:srgbClr val="02C39A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3264" y="4023360"/>
            <a:ext cx="0" cy="502920"/>
          </a:xfrm>
          <a:prstGeom prst="line">
            <a:avLst/>
          </a:prstGeom>
          <a:noFill/>
          <a:ln w="25400">
            <a:solidFill>
              <a:srgbClr val="FFFFFF"/>
            </a:solidFill>
            <a:prstDash val="dash"/>
          </a:ln>
        </p:spPr>
      </p:sp>
      <p:sp>
        <p:nvSpPr>
          <p:cNvPr id="14" name="Text 12"/>
          <p:cNvSpPr txBox="1"/>
          <p:nvPr/>
        </p:nvSpPr>
        <p:spPr>
          <a:xfrm>
            <a:off x="548640" y="4846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FB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Dashed line = four-fifths rule threshold (0.80). Both dimensions clear it.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Fairness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8412480" y="65105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 · Synchrony Hackathon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Score Comes With a Reason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6916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Cold-start explanation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103120"/>
            <a:ext cx="9601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“Compared to N similar new applicants, X% repaid on time.” — inherently intuitive, no model internals needed.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15468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154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31089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Warm explanation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520440"/>
            <a:ext cx="9601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feature attribution (permutation-based) finds the top contributing factors → one guarded LLM call turns them into a plain-English sentence.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484632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EFF6F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484632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Guardrail: </a:t>
            </a:r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62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LLM may only rephrase the factors it's given. No new claims. No demographic references — none are ever passed to it in the first place.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Explainability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8412480" y="65105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 · Synchrony Hackathon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 as Code, Not Just Policy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6916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Consent gate — enforced server-side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103120"/>
            <a:ext cx="9601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/api/consent must succeed before /api/score will run for that applicant — a real 403 otherwise, not a client-side checkbox that can be bypassed.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15468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154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31089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Right to erasure — a real endpoint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520440"/>
            <a:ext cx="9601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/api/applicants/{id} wired to an “Erase my data” button in the UI — not a policy statement with nothing behind it.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484632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EFF6F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4846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directly to India's DPDP Act 2023: purpose limitation, consent before use, and the right to erasure.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Privacy &amp; Compliance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8412480" y="65105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 · Synchrony Hackathon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708660" y="2377440"/>
            <a:ext cx="2377440" cy="1280160"/>
          </a:xfrm>
          <a:prstGeom prst="roundRect">
            <a:avLst>
              <a:gd name="adj" fmla="val 5714"/>
            </a:avLst>
          </a:prstGeom>
          <a:solidFill>
            <a:srgbClr val="02809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45820" y="25603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React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45820" y="31089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7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UI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131820" y="2880360"/>
            <a:ext cx="320040" cy="274320"/>
          </a:xfrm>
          <a:prstGeom prst="rightArrow">
            <a:avLst/>
          </a:prstGeom>
          <a:solidFill>
            <a:srgbClr val="5B7473"/>
          </a:solidFill>
          <a:ln/>
        </p:spPr>
      </p:sp>
      <p:sp>
        <p:nvSpPr>
          <p:cNvPr id="7" name="Shape 5"/>
          <p:cNvSpPr/>
          <p:nvPr/>
        </p:nvSpPr>
        <p:spPr>
          <a:xfrm>
            <a:off x="3497580" y="2377440"/>
            <a:ext cx="2377440" cy="1280160"/>
          </a:xfrm>
          <a:prstGeom prst="roundRect">
            <a:avLst>
              <a:gd name="adj" fmla="val 5714"/>
            </a:avLst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34740" y="25603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Spring Boot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3634740" y="31089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7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· orchestration · consent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920740" y="2880360"/>
            <a:ext cx="320040" cy="274320"/>
          </a:xfrm>
          <a:prstGeom prst="rightArrow">
            <a:avLst/>
          </a:prstGeom>
          <a:solidFill>
            <a:srgbClr val="5B7473"/>
          </a:solidFill>
          <a:ln/>
        </p:spPr>
      </p:sp>
      <p:sp>
        <p:nvSpPr>
          <p:cNvPr id="11" name="Shape 9"/>
          <p:cNvSpPr/>
          <p:nvPr/>
        </p:nvSpPr>
        <p:spPr>
          <a:xfrm>
            <a:off x="6286500" y="2377440"/>
            <a:ext cx="2377440" cy="1280160"/>
          </a:xfrm>
          <a:prstGeom prst="roundRect">
            <a:avLst>
              <a:gd name="adj" fmla="val 5714"/>
            </a:avLst>
          </a:prstGeom>
          <a:solidFill>
            <a:srgbClr val="02C39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23660" y="25603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Model-service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423660" y="31089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7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· owns the ML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709660" y="2880360"/>
            <a:ext cx="320040" cy="274320"/>
          </a:xfrm>
          <a:prstGeom prst="rightArrow">
            <a:avLst/>
          </a:prstGeom>
          <a:solidFill>
            <a:srgbClr val="5B7473"/>
          </a:solidFill>
          <a:ln/>
        </p:spPr>
      </p:sp>
      <p:sp>
        <p:nvSpPr>
          <p:cNvPr id="15" name="Shape 13"/>
          <p:cNvSpPr/>
          <p:nvPr/>
        </p:nvSpPr>
        <p:spPr>
          <a:xfrm>
            <a:off x="9075420" y="2377440"/>
            <a:ext cx="2377440" cy="1280160"/>
          </a:xfrm>
          <a:prstGeom prst="roundRect">
            <a:avLst>
              <a:gd name="adj" fmla="val 5714"/>
            </a:avLst>
          </a:prstGeom>
          <a:solidFill>
            <a:srgbClr val="B9D6D3"/>
          </a:solidFill>
          <a:ln w="19050">
            <a:solidFill>
              <a:srgbClr val="5B7473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9212580" y="25603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Postgres + pgvector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9212580" y="31089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Persistence (planned)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2976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calling a Python model-service is a deliberate microservice split — Java owns the API/auth/orchestration layer, Python owns the ML — not a shortcut around using either for real.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Architecture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8412480" y="65105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 · Synchrony Hackathon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Running vs. What's Designed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END-TO-END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6126480" y="14173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DESIGNED, NOT YET WIRED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329184" cy="32918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1874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1819656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 + blended + direct scoring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2441448"/>
            <a:ext cx="329184" cy="32918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4414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238658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Explanation generation (template + LLM)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48640" y="3008376"/>
            <a:ext cx="329184" cy="32918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30083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005840" y="295351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enforcement (server-side)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48640" y="3575304"/>
            <a:ext cx="329184" cy="32918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35753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005840" y="35204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 audit of the trained model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48640" y="4142232"/>
            <a:ext cx="329184" cy="32918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" y="41422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1005840" y="408736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history per applicant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48640" y="4709160"/>
            <a:ext cx="329184" cy="32918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48640" y="47091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1005840" y="4654296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Right-to-erasure endpoint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6126480" y="1874520"/>
            <a:ext cx="329184" cy="329184"/>
          </a:xfrm>
          <a:prstGeom prst="ellipse">
            <a:avLst/>
          </a:prstGeom>
          <a:solidFill>
            <a:srgbClr val="D8E4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583680" y="1819656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persistence (schema ready)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6126480" y="2441448"/>
            <a:ext cx="329184" cy="329184"/>
          </a:xfrm>
          <a:prstGeom prst="ellipse">
            <a:avLst/>
          </a:prstGeom>
          <a:solidFill>
            <a:srgbClr val="D8E4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583680" y="238658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 review queue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6126480" y="3008376"/>
            <a:ext cx="329184" cy="329184"/>
          </a:xfrm>
          <a:prstGeom prst="ellipse">
            <a:avLst/>
          </a:prstGeom>
          <a:solidFill>
            <a:srgbClr val="D8E4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583680" y="295351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Production-grade SHAP explainability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6126480" y="3575304"/>
            <a:ext cx="329184" cy="329184"/>
          </a:xfrm>
          <a:prstGeom prst="ellipse">
            <a:avLst/>
          </a:prstGeom>
          <a:solidFill>
            <a:srgbClr val="D8E4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583680" y="35204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AWS Bedrock + cloud deployment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548640" y="5394960"/>
            <a:ext cx="11064240" cy="685800"/>
          </a:xfrm>
          <a:prstGeom prst="roundRect">
            <a:avLst>
              <a:gd name="adj" fmla="val 10667"/>
            </a:avLst>
          </a:prstGeom>
          <a:solidFill>
            <a:srgbClr val="EFF6F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48640" y="53949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deliberate scope cut under a hackathon deadline — not an oversight.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Build Status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8412480" y="65105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 · Synchrony Hackathon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62C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32120" y="1371600"/>
            <a:ext cx="1097280" cy="109728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532120" y="137160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 It Live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520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Recorded demo included separately, walking through: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1148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→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651760" y="41148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Cold-start score →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754880" y="41148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sharpens with history →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858000" y="41148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 report →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961120" y="41148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to erasure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Demo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8412480" y="65105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 · Synchrony Hackathon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Next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1719072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62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real Postgres persistence — schema already defined in db/init.sql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48640" y="2578608"/>
            <a:ext cx="457200" cy="45720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2578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256032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62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 review queue for borderline scores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548640" y="3419856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34198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401568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62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Production-grade SHAP explainability in place of the permutation approximation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548640" y="4261104"/>
            <a:ext cx="457200" cy="45720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42611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4242816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62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AWS Bedrock integration and cloud deployment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548640" y="5102352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51023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508406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62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Mobile-first applicant experience</a:t>
            </a:r>
            <a:endParaRPr lang="en-US" sz="15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Roadmap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8412480" y="65105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 · Synchrony Hackathon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62C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74920" y="2660904"/>
            <a:ext cx="4023360" cy="281635"/>
          </a:xfrm>
          <a:prstGeom prst="roundRect">
            <a:avLst>
              <a:gd name="adj" fmla="val 9740"/>
            </a:avLst>
          </a:prstGeom>
          <a:solidFill>
            <a:srgbClr val="02C39A"/>
          </a:solidFill>
          <a:ln/>
        </p:spPr>
      </p:sp>
      <p:sp>
        <p:nvSpPr>
          <p:cNvPr id="3" name="Shape 1"/>
          <p:cNvSpPr/>
          <p:nvPr/>
        </p:nvSpPr>
        <p:spPr>
          <a:xfrm>
            <a:off x="5396789" y="1554480"/>
            <a:ext cx="402336" cy="1408176"/>
          </a:xfrm>
          <a:prstGeom prst="roundRect">
            <a:avLst>
              <a:gd name="adj" fmla="val 4545"/>
            </a:avLst>
          </a:prstGeom>
          <a:solidFill>
            <a:srgbClr val="02C39A"/>
          </a:solidFill>
          <a:ln/>
        </p:spPr>
      </p:sp>
      <p:sp>
        <p:nvSpPr>
          <p:cNvPr id="4" name="Shape 2"/>
          <p:cNvSpPr/>
          <p:nvPr/>
        </p:nvSpPr>
        <p:spPr>
          <a:xfrm>
            <a:off x="8374075" y="1554480"/>
            <a:ext cx="402336" cy="1408176"/>
          </a:xfrm>
          <a:prstGeom prst="roundRect">
            <a:avLst>
              <a:gd name="adj" fmla="val 4545"/>
            </a:avLst>
          </a:prstGeom>
          <a:solidFill>
            <a:srgbClr val="02C39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2004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776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 — bridging the credit gap, one earned score at a time.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846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github.com/Shlok-J/setu-synchrony-hackathon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3035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FB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Shlok Jaiswal  ·  [Roll Number]  ·  BITS Pilani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2026-09-21T11:59:40Z</dcterms:created>
  <dcterms:modified xsi:type="dcterms:W3CDTF">2026-09-21T11:59:40Z</dcterms:modified>
</cp:coreProperties>
</file>