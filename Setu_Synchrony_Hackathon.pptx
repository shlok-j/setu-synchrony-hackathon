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9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92A"/>
                </a:solidFill>
                <a:latin typeface="Arial"/>
              </a:rPr>
              <a:t>Weight shifts as the applicant's own history accumulates (days_active)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Cohort weight</c:v>
                </c:pt>
              </c:strCache>
            </c:strRef>
          </c:tx>
          <c:spPr>
            <a:solidFill>
              <a:srgbClr val="00A896"/>
            </a:solidFill>
            <a:ln w="38100" cap="flat">
              <a:solidFill>
                <a:srgbClr val="00A8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896"/>
              </a:solidFill>
              <a:ln w="9525" cap="flat">
                <a:solidFill>
                  <a:srgbClr val="00A8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15</c:v>
                  </c:pt>
                  <c:pt idx="2">
                    <c:v>30</c:v>
                  </c:pt>
                  <c:pt idx="3">
                    <c:v>45</c:v>
                  </c:pt>
                  <c:pt idx="4">
                    <c:v>60</c:v>
                  </c:pt>
                  <c:pt idx="5">
                    <c:v>75</c:v>
                  </c:pt>
                  <c:pt idx="6">
                    <c:v>90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0.833</c:v>
                </c:pt>
                <c:pt idx="2">
                  <c:v>0.667</c:v>
                </c:pt>
                <c:pt idx="3">
                  <c:v>0.5</c:v>
                </c:pt>
                <c:pt idx="4">
                  <c:v>0.333</c:v>
                </c:pt>
                <c:pt idx="5">
                  <c:v>0.167</c:v>
                </c:pt>
                <c:pt idx="6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Personal-model weight</c:v>
                </c:pt>
              </c:strCache>
            </c:strRef>
          </c:tx>
          <c:spPr>
            <a:solidFill>
              <a:srgbClr val="02C39A"/>
            </a:solidFill>
            <a:ln w="38100" cap="flat">
              <a:solidFill>
                <a:srgbClr val="02C3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C39A"/>
              </a:solidFill>
              <a:ln w="9525" cap="flat">
                <a:solidFill>
                  <a:srgbClr val="02C3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15</c:v>
                  </c:pt>
                  <c:pt idx="2">
                    <c:v>30</c:v>
                  </c:pt>
                  <c:pt idx="3">
                    <c:v>45</c:v>
                  </c:pt>
                  <c:pt idx="4">
                    <c:v>60</c:v>
                  </c:pt>
                  <c:pt idx="5">
                    <c:v>75</c:v>
                  </c:pt>
                  <c:pt idx="6">
                    <c:v>90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0.167</c:v>
                </c:pt>
                <c:pt idx="2">
                  <c:v>0.333</c:v>
                </c:pt>
                <c:pt idx="3">
                  <c:v>0.5</c:v>
                </c:pt>
                <c:pt idx="4">
                  <c:v>0.667</c:v>
                </c:pt>
                <c:pt idx="5">
                  <c:v>0.833</c:v>
                </c:pt>
                <c:pt idx="6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Days active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74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5ED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7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 HACKATHON  ·  SOLUTION DEVELOPMENT CHALLENGE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Trust Scoring for Financial Inclusion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B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Financial Inclusion: Dynamic Risk Assessment for Underserved Segments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869680" y="3096616"/>
            <a:ext cx="2615184" cy="183063"/>
          </a:xfrm>
          <a:prstGeom prst="roundRect">
            <a:avLst>
              <a:gd name="adj" fmla="val 14985"/>
            </a:avLst>
          </a:prstGeom>
          <a:solidFill>
            <a:srgbClr val="02C39A"/>
          </a:solidFill>
          <a:ln/>
        </p:spPr>
      </p:sp>
      <p:sp>
        <p:nvSpPr>
          <p:cNvPr id="7" name="Shape 5"/>
          <p:cNvSpPr/>
          <p:nvPr/>
        </p:nvSpPr>
        <p:spPr>
          <a:xfrm>
            <a:off x="9078895" y="2377440"/>
            <a:ext cx="261518" cy="915314"/>
          </a:xfrm>
          <a:prstGeom prst="roundRect">
            <a:avLst>
              <a:gd name="adj" fmla="val 6993"/>
            </a:avLst>
          </a:prstGeom>
          <a:solidFill>
            <a:srgbClr val="02C39A"/>
          </a:solidFill>
          <a:ln/>
        </p:spPr>
      </p:sp>
      <p:sp>
        <p:nvSpPr>
          <p:cNvPr id="8" name="Shape 6"/>
          <p:cNvSpPr/>
          <p:nvPr/>
        </p:nvSpPr>
        <p:spPr>
          <a:xfrm>
            <a:off x="11014131" y="2377440"/>
            <a:ext cx="261518" cy="915314"/>
          </a:xfrm>
          <a:prstGeom prst="roundRect">
            <a:avLst>
              <a:gd name="adj" fmla="val 6993"/>
            </a:avLst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Shlok Jaiswal  ·  2022B1A41097P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Credit Invisibility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EFF6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9659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26M+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7889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Americans are “credit invisible” — no credit history at all (CFPB)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26480" y="173736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EFF6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46520" y="19659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Hundreds of millions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7889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remain outside formal credit systems across emerging markets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7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credit scoring needs a formal history they don't have. Alternative data — mobile usage, transactions, behavior — can fill the gap.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alternative data is also the riskiest data to use — which is the actual problem to solve.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Challenge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TEST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isn't the model.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the judgment about the data.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“Social signals” is the single highest disparate-impact, least-auditable data category in alternative-data lending. Naming it and refusing it is a deliberate design choice — not an oversight.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Insight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Setu: Progressive Trust Scoring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real-time, explainable risk score from day one — a cohort-based estimate that automatically sharpens into a personal score as trust is earned.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EFF6F5"/>
          </a:solidFill>
          <a:ln/>
        </p:spPr>
      </p:sp>
      <p:sp>
        <p:nvSpPr>
          <p:cNvPr id="5" name="Shape 3"/>
          <p:cNvSpPr/>
          <p:nvPr/>
        </p:nvSpPr>
        <p:spPr>
          <a:xfrm>
            <a:off x="1920240" y="35661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92024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sharpens per customer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history accumulates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EFF6F5"/>
          </a:solidFill>
          <a:ln/>
        </p:spPr>
      </p:sp>
      <p:sp>
        <p:nvSpPr>
          <p:cNvPr id="10" name="Shape 8"/>
          <p:cNvSpPr/>
          <p:nvPr/>
        </p:nvSpPr>
        <p:spPr>
          <a:xfrm>
            <a:off x="5623560" y="35661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2356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25196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ships with a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reason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EFF6F5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0" y="35661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2688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 by Design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Social/demographic data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 model input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Our Approach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Works: Cohort → Personal, Blended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5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match via similarity search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343400" y="1965960"/>
            <a:ext cx="822960" cy="365760"/>
          </a:xfrm>
          <a:prstGeom prst="rightArrow">
            <a:avLst/>
          </a:prstGeom>
          <a:solidFill>
            <a:srgbClr val="00A896"/>
          </a:solidFill>
          <a:ln/>
        </p:spPr>
      </p:sp>
      <p:sp>
        <p:nvSpPr>
          <p:cNvPr id="6" name="Shape 4"/>
          <p:cNvSpPr/>
          <p:nvPr/>
        </p:nvSpPr>
        <p:spPr>
          <a:xfrm>
            <a:off x="5303520" y="164592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32120" y="1645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</a:t>
            </a:r>
            <a:endParaRPr lang="en-US" sz="15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gradient-boosting model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80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629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(1 − w) × cohort_score + w × direct_score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B74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min(1, days_active / 90)</a:t>
            </a:r>
            <a:endParaRPr lang="en-US" sz="1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3657600"/>
          <a:ext cx="110642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The Core Mechanic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Use — And What We Refuse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12648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REFUSE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783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recharge frequency &amp; regularity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560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/ rent payment punctuality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337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transaction (UPI/wallet) behavior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16052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tenure &amp; KYC completeness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26480" y="1828800"/>
            <a:ext cx="365760" cy="365760"/>
          </a:xfrm>
          <a:prstGeom prst="ellipse">
            <a:avLst/>
          </a:prstGeom>
          <a:solidFill>
            <a:srgbClr val="16292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264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1783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/ social-graph data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2606040"/>
            <a:ext cx="365760" cy="365760"/>
          </a:xfrm>
          <a:prstGeom prst="ellipse">
            <a:avLst/>
          </a:prstGeom>
          <a:solidFill>
            <a:srgbClr val="1629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2648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2560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Caste, religion, community indicators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26480" y="3383280"/>
            <a:ext cx="365760" cy="365760"/>
          </a:xfrm>
          <a:prstGeom prst="ellipse">
            <a:avLst/>
          </a:prstGeom>
          <a:solidFill>
            <a:srgbClr val="16292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2648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3337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location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(highest disparate-impact, least auditable)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Data Strategy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— Measured, Not Assumed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from the trained model's own predictions across the full population — checking outputs, not just labels.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disparity ratio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4754880" cy="320040"/>
          </a:xfrm>
          <a:prstGeom prst="roundRect">
            <a:avLst>
              <a:gd name="adj" fmla="val 14286"/>
            </a:avLst>
          </a:prstGeom>
          <a:solidFill>
            <a:srgbClr val="0E4448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4114800"/>
            <a:ext cx="4469587" cy="320040"/>
          </a:xfrm>
          <a:prstGeom prst="roundRect">
            <a:avLst>
              <a:gd name="adj" fmla="val 14286"/>
            </a:avLst>
          </a:prstGeom>
          <a:solidFill>
            <a:srgbClr val="02C39A"/>
          </a:solidFill>
          <a:ln/>
        </p:spPr>
      </p:sp>
      <p:sp>
        <p:nvSpPr>
          <p:cNvPr id="8" name="Shape 6"/>
          <p:cNvSpPr/>
          <p:nvPr/>
        </p:nvSpPr>
        <p:spPr>
          <a:xfrm>
            <a:off x="4535424" y="4023360"/>
            <a:ext cx="0" cy="5029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126480" y="22860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3520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disparity ratio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09360" y="4114800"/>
            <a:ext cx="4754880" cy="320040"/>
          </a:xfrm>
          <a:prstGeom prst="roundRect">
            <a:avLst>
              <a:gd name="adj" fmla="val 14286"/>
            </a:avLst>
          </a:prstGeom>
          <a:solidFill>
            <a:srgbClr val="0E4448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4114800"/>
            <a:ext cx="4612234" cy="320040"/>
          </a:xfrm>
          <a:prstGeom prst="roundRect">
            <a:avLst>
              <a:gd name="adj" fmla="val 14286"/>
            </a:avLst>
          </a:prstGeom>
          <a:solidFill>
            <a:srgbClr val="02C39A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3264" y="4023360"/>
            <a:ext cx="0" cy="5029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FB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 = four-fifths rule threshold (0.80). Both dimensions clear it.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Fairness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Score Comes With a Reason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691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Cold-start explanation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10312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“Compared to N similar new applicants, X% repaid on time.” — inherently intuitive, no model internals needed.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explanation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5204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feature attribution (permutation-based) finds the top contributing factors → one guarded LLM call turns them into a plain-English sentence.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846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EFF6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8463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may only rephrase the factors it's given. No new claims. No demographic references — none are ever passed to it in the first place.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Explainability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as Code, Not Just Policy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691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gate — enforced server-side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10312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/api/consent must succeed before /api/score will run for that applicant — a real 403 otherwise, not a client-side checkbox that can be bypassed.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to erasure — a real endpoint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5204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/api/applicants/{id} wired to an “Erase my data” button in the UI — not a policy statement with nothing behind it.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8463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FF6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846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directly to India's DPDP Act 2023: purpose limitation, consent before use, and the right to erasure.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Privacy &amp; Compliance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08660" y="237744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582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45820" y="3108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UI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131820" y="2880360"/>
            <a:ext cx="320040" cy="274320"/>
          </a:xfrm>
          <a:prstGeom prst="rightArrow">
            <a:avLst/>
          </a:prstGeom>
          <a:solidFill>
            <a:srgbClr val="5B7473"/>
          </a:solidFill>
          <a:ln/>
        </p:spPr>
      </p:sp>
      <p:sp>
        <p:nvSpPr>
          <p:cNvPr id="7" name="Shape 5"/>
          <p:cNvSpPr/>
          <p:nvPr/>
        </p:nvSpPr>
        <p:spPr>
          <a:xfrm>
            <a:off x="3497580" y="237744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474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Spring Boot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634740" y="3108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· orchestration · consent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20740" y="2880360"/>
            <a:ext cx="320040" cy="274320"/>
          </a:xfrm>
          <a:prstGeom prst="rightArrow">
            <a:avLst/>
          </a:prstGeom>
          <a:solidFill>
            <a:srgbClr val="5B7473"/>
          </a:solidFill>
          <a:ln/>
        </p:spPr>
      </p:sp>
      <p:sp>
        <p:nvSpPr>
          <p:cNvPr id="11" name="Shape 9"/>
          <p:cNvSpPr/>
          <p:nvPr/>
        </p:nvSpPr>
        <p:spPr>
          <a:xfrm>
            <a:off x="6286500" y="237744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366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Model-service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23660" y="3108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owns the ML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709660" y="2880360"/>
            <a:ext cx="320040" cy="274320"/>
          </a:xfrm>
          <a:prstGeom prst="rightArrow">
            <a:avLst/>
          </a:prstGeom>
          <a:solidFill>
            <a:srgbClr val="5B7473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5420" y="237744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B9D6D3"/>
          </a:solidFill>
          <a:ln w="19050">
            <a:solidFill>
              <a:srgbClr val="5B74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921258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 + pgvector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212580" y="3108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(planned)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297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calling a Python model-service is a deliberate microservice split — Java owns the API/auth/orchestration layer, Python owns the ML — not a shortcut around using either for real.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Architecture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Running vs. What's Designed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END-TO-END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12648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DESIGNED, NOT YET WIRED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196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+ blended + direct scoring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44144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3865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generation (template + LLM)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008376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008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953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enforcement (server-side)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57530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575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520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audit of the trained model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142232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142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0873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history per applicant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709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465429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Right-to-erasure endpoint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126480" y="1874520"/>
            <a:ext cx="329184" cy="329184"/>
          </a:xfrm>
          <a:prstGeom prst="ellipse">
            <a:avLst/>
          </a:prstGeom>
          <a:solidFill>
            <a:srgbClr val="D8E4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83680" y="18196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persistence (schema ready)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126480" y="2441448"/>
            <a:ext cx="329184" cy="329184"/>
          </a:xfrm>
          <a:prstGeom prst="ellipse">
            <a:avLst/>
          </a:prstGeom>
          <a:solidFill>
            <a:srgbClr val="D8E4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83680" y="23865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 queue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126480" y="3008376"/>
            <a:ext cx="329184" cy="329184"/>
          </a:xfrm>
          <a:prstGeom prst="ellipse">
            <a:avLst/>
          </a:prstGeom>
          <a:solidFill>
            <a:srgbClr val="D8E4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0" y="2953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SHAP explainability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26480" y="3575304"/>
            <a:ext cx="329184" cy="329184"/>
          </a:xfrm>
          <a:prstGeom prst="ellipse">
            <a:avLst/>
          </a:prstGeom>
          <a:solidFill>
            <a:srgbClr val="D8E4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0" y="3520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AWS Bedrock + cloud deployment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48640" y="539496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EFF6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3949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 scope cut under a hackathon deadline — not an oversight.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Build Status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32120" y="1371600"/>
            <a:ext cx="1097280" cy="10972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32120" y="13716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Live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20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demo included separately, walking through: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score →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sharpens with history →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report →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 erasure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Demo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71907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real Postgres persistence — schema already defined in db/init.sql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578608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560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 queue for borderline scores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3419856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4015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SHAP explainability in place of the permutation approximation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4261104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242816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AWS Bedrock integration and cloud deployment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48640" y="510235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102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0840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applicant experience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Roadmap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4920" y="2660904"/>
            <a:ext cx="4023360" cy="281635"/>
          </a:xfrm>
          <a:prstGeom prst="roundRect">
            <a:avLst>
              <a:gd name="adj" fmla="val 9740"/>
            </a:avLst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5396789" y="1554480"/>
            <a:ext cx="402336" cy="1408176"/>
          </a:xfrm>
          <a:prstGeom prst="roundRect">
            <a:avLst>
              <a:gd name="adj" fmla="val 4545"/>
            </a:avLst>
          </a:prstGeom>
          <a:solidFill>
            <a:srgbClr val="02C39A"/>
          </a:solidFill>
          <a:ln/>
        </p:spPr>
      </p:sp>
      <p:sp>
        <p:nvSpPr>
          <p:cNvPr id="4" name="Shape 2"/>
          <p:cNvSpPr/>
          <p:nvPr/>
        </p:nvSpPr>
        <p:spPr>
          <a:xfrm>
            <a:off x="8374075" y="1554480"/>
            <a:ext cx="402336" cy="1408176"/>
          </a:xfrm>
          <a:prstGeom prst="roundRect">
            <a:avLst>
              <a:gd name="adj" fmla="val 4545"/>
            </a:avLst>
          </a:prstGeom>
          <a:solidFill>
            <a:srgbClr val="02C39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200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— bridging the credit gap, one earned score at a time.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github.com/Shlok-J/setu-synchrony-hackathon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3035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B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Shlok Jaiswal  ·  2022B1A41097P  ·  BITS Pilani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2026-09-21T12:37:19Z</dcterms:created>
  <dcterms:modified xsi:type="dcterms:W3CDTF">2026-09-21T12:37:19Z</dcterms:modified>
</cp:coreProperties>
</file>